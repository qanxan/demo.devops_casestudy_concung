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6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1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010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 dau: gioi thieu muc tieu chuan hoa Jenkins CI/CD cho he thong omni-channel e-commerce. Nhan manh 3 tru cot: toc do, chuan hoa, do tin cay.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 ro pain point hien tai va chuyen thanh muc tieu chuan hoa. Ban after chinh la khung noi dung cua ca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 tru cot. Nhan manh: template dung chung qua Shared Library la chia khoa de chuan hoa nhieu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qua tung stage. Nhan manh parallel test, image tag theo SHA, va rollback tu dong qua post{failure}.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huong: scale agent, parallel, toi uu build. Card ben phai la ket qua ky vong khi ap dung Task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Monitoring stack ben trai, 3 DORA metric bao cao leadership ben phai. Deployment frequency, build success rate, MTTR.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Chot lai 4 takeaway. Nhac repo demo chay duoc local. San sang demo hands-on neu duoc yeu cau.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005840"/>
            <a:ext cx="3108960" cy="310896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937760"/>
            <a:ext cx="2377440" cy="2377440"/>
          </a:xfrm>
          <a:prstGeom prst="ellipse">
            <a:avLst/>
          </a:prstGeom>
          <a:solidFill>
            <a:srgbClr val="D94F2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822960" cy="822960"/>
          </a:xfrm>
          <a:prstGeom prst="ellipse">
            <a:avLst/>
          </a:prstGeom>
          <a:solidFill>
            <a:srgbClr val="D94F2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6312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871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· DEVOPS ENGINEER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Jenkins CI/CD Platform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6868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tốc development · chuẩn hóa deployment · nâng cao reliability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4892040"/>
            <a:ext cx="2739542" cy="566928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03834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99032" y="4892040"/>
            <a:ext cx="21909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Controller + Agents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836822" y="4892040"/>
            <a:ext cx="2201875" cy="566928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702" y="503834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67174" y="4892040"/>
            <a:ext cx="16532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Deployment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267298" y="4892040"/>
            <a:ext cx="2112264" cy="566928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0178" y="5038344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97650" y="4892040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4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 &amp; MỤC TIÊU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pipeline rời rạc đến nền tảng chuẩn hóa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4F7F9"/>
          </a:solidFill>
          <a:ln w="12700">
            <a:solidFill>
              <a:srgbClr val="CBD5D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66928" cy="566928"/>
          </a:xfrm>
          <a:prstGeom prst="ellipse">
            <a:avLst/>
          </a:prstGeom>
          <a:solidFill>
            <a:srgbClr val="5B6B7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0219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01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HIỆN TRẠNG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giữa các project không đồng nhất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đã dùng nhưng design chưa chuẩn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 lâu, deployment dễ lỗi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Jenkinsfile template chung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quy trình PR / review / approve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0B3D5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74520"/>
            <a:ext cx="566928" cy="566928"/>
          </a:xfrm>
          <a:prstGeom prst="ellipse">
            <a:avLst/>
          </a:prstGeom>
          <a:solidFill>
            <a:srgbClr val="D94F2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361" y="20219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01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platform chuẩn: Controller + Agents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Jenkinsfile template dùng chung, versioned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secrets &amp; environments tập trung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stages + deployment strategy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&amp; observability đo được (DORA)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4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1 · KẾ HOẠCH CHUẨN HÓA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trụ cột của Jenkins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70048" cy="420624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CBD5D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48256"/>
            <a:ext cx="658368" cy="65836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24" y="2219432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803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4672" y="338328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Controller (orchestrate, UI, không chạy job nặng) + nhiều Agent theo label. Agent ephemeral, scale ngang.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29584" y="1737360"/>
            <a:ext cx="2670048" cy="420624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CBD5D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22192" y="2048256"/>
            <a:ext cx="658368" cy="658368"/>
          </a:xfrm>
          <a:prstGeom prst="ellipse">
            <a:avLst/>
          </a:prstGeom>
          <a:solidFill>
            <a:srgbClr val="D94F2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368" y="2219432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85616" y="28803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&amp; Template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785616" y="338328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Jenkinsfile versioned trong repo. Shared Library cho stage dùng chung → mọi project theo 1 chuẩn.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510528" y="1737360"/>
            <a:ext cx="2670048" cy="420624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CBD5D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03136" y="2048256"/>
            <a:ext cx="658368" cy="65836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4312" y="2219432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28803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&amp; Env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766560" y="338328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Credentials + folder-scoped. Tách dev/staging/prod. Không hardcode; inject qua withCredentials.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491472" y="1737360"/>
            <a:ext cx="2670048" cy="420624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CBD5D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84080" y="2048256"/>
            <a:ext cx="658368" cy="658368"/>
          </a:xfrm>
          <a:prstGeom prst="ellipse">
            <a:avLst/>
          </a:prstGeom>
          <a:solidFill>
            <a:srgbClr val="D94F2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5256" y="2219432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47504" y="28803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&amp; Deploy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747504" y="338328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chuẩn: Checkout→Test→Build→Push→Deploy. Rolling update, rollback tự động.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4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2 · THIẾT KẾ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flow cho web app containerized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2376" y="192024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0B3D5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2157984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267004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276856" y="1920240"/>
            <a:ext cx="292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6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551176" y="192024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0B3D5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2157984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96896" y="267004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</a:p>
        </p:txBody>
      </p:sp>
      <p:sp>
        <p:nvSpPr>
          <p:cNvPr id="11" name="Text 7"/>
          <p:cNvSpPr/>
          <p:nvPr/>
        </p:nvSpPr>
        <p:spPr>
          <a:xfrm>
            <a:off x="4105656" y="1920240"/>
            <a:ext cx="292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6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4379976" y="192024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0B3D5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2157984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25696" y="267004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934456" y="1920240"/>
            <a:ext cx="292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6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6208776" y="192024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0B3D5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2157984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54496" y="267004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7763256" y="1920240"/>
            <a:ext cx="292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6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8037576" y="192024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0B3D5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6216" y="2157984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83296" y="267004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9592056" y="1920240"/>
            <a:ext cx="292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6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9866376" y="192024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D94F2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5016" y="2157984"/>
            <a:ext cx="475488" cy="4754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912096" y="267004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548640" y="365760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DECE7"/>
          </a:solidFill>
          <a:ln w="12700">
            <a:solidFill>
              <a:srgbClr val="D94F2B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3831336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34440" y="36576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4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tự động:  </a:t>
            </a: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 fail → post{ failure } gọi kubectl rollout undo → quay về revision trước.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54864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4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548640" y="4864608"/>
            <a:ext cx="1609344" cy="502920"/>
          </a:xfrm>
          <a:prstGeom prst="roundRect">
            <a:avLst>
              <a:gd name="adj" fmla="val 49091"/>
            </a:avLst>
          </a:prstGeom>
          <a:solidFill>
            <a:srgbClr val="F4F7F9"/>
          </a:solidFill>
          <a:ln w="12700">
            <a:solidFill>
              <a:srgbClr val="CBD5DC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548640" y="486460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GitHub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2359152" y="4864608"/>
            <a:ext cx="1993392" cy="502920"/>
          </a:xfrm>
          <a:prstGeom prst="roundRect">
            <a:avLst>
              <a:gd name="adj" fmla="val 49091"/>
            </a:avLst>
          </a:prstGeom>
          <a:solidFill>
            <a:srgbClr val="F4F7F9"/>
          </a:solidFill>
          <a:ln w="12700">
            <a:solidFill>
              <a:srgbClr val="CBD5DC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2359152" y="486460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Pipeline</a:t>
            </a:r>
            <a:endParaRPr lang="en-US" sz="1250" dirty="0"/>
          </a:p>
        </p:txBody>
      </p:sp>
      <p:sp>
        <p:nvSpPr>
          <p:cNvPr id="35" name="Shape 26"/>
          <p:cNvSpPr/>
          <p:nvPr/>
        </p:nvSpPr>
        <p:spPr>
          <a:xfrm>
            <a:off x="4553712" y="4864608"/>
            <a:ext cx="2089404" cy="502920"/>
          </a:xfrm>
          <a:prstGeom prst="roundRect">
            <a:avLst>
              <a:gd name="adj" fmla="val 49091"/>
            </a:avLst>
          </a:prstGeom>
          <a:solidFill>
            <a:srgbClr val="F4F7F9"/>
          </a:solidFill>
          <a:ln w="12700">
            <a:solidFill>
              <a:srgbClr val="CBD5DC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4553712" y="4864608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/ BuildKit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6844284" y="4864608"/>
            <a:ext cx="1225296" cy="502920"/>
          </a:xfrm>
          <a:prstGeom prst="roundRect">
            <a:avLst>
              <a:gd name="adj" fmla="val 49091"/>
            </a:avLst>
          </a:prstGeom>
          <a:solidFill>
            <a:srgbClr val="F4F7F9"/>
          </a:solidFill>
          <a:ln w="12700">
            <a:solidFill>
              <a:srgbClr val="CBD5DC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844284" y="486460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8270748" y="4864608"/>
            <a:ext cx="1705356" cy="502920"/>
          </a:xfrm>
          <a:prstGeom prst="roundRect">
            <a:avLst>
              <a:gd name="adj" fmla="val 49091"/>
            </a:avLst>
          </a:prstGeom>
          <a:solidFill>
            <a:srgbClr val="F4F7F9"/>
          </a:solidFill>
          <a:ln w="12700">
            <a:solidFill>
              <a:srgbClr val="CBD5DC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8270748" y="4864608"/>
            <a:ext cx="1705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/ K8s</a:t>
            </a:r>
            <a:endParaRPr lang="en-US" sz="1250" dirty="0"/>
          </a:p>
        </p:txBody>
      </p:sp>
      <p:sp>
        <p:nvSpPr>
          <p:cNvPr id="41" name="Shape 32"/>
          <p:cNvSpPr/>
          <p:nvPr/>
        </p:nvSpPr>
        <p:spPr>
          <a:xfrm>
            <a:off x="10177272" y="4864608"/>
            <a:ext cx="1993392" cy="502920"/>
          </a:xfrm>
          <a:prstGeom prst="roundRect">
            <a:avLst>
              <a:gd name="adj" fmla="val 49091"/>
            </a:avLst>
          </a:prstGeom>
          <a:solidFill>
            <a:srgbClr val="F4F7F9"/>
          </a:solidFill>
          <a:ln w="12700">
            <a:solidFill>
              <a:srgbClr val="CBD5DC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10177272" y="486460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tag = git commit SHA → mỗi build là image bất biến, truy vết &amp; rollback chính xác.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4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3 · RELIABILITY &amp; 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agents · parallel · tối ưu build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4980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CBD5D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03504" cy="603504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230575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938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Jenkins agents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31343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theo label &amp; ephemeral (Docker/K8s plugin). Job tăng → spawn agent tự động, tắt khi xong → tiết kiệm tài nguyên.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209544"/>
            <a:ext cx="74980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CBD5D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575304"/>
            <a:ext cx="603504" cy="603504"/>
          </a:xfrm>
          <a:prstGeom prst="ellipse">
            <a:avLst/>
          </a:prstGeom>
          <a:solidFill>
            <a:srgbClr val="D94F2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871" y="3732215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35584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builds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00200" y="373989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song song unit test // lint/audit; nhiều job trên nhiều agent cùng lúc thay vì hàng đợi tuần tự.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636008"/>
            <a:ext cx="74980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CBD5D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5001768"/>
            <a:ext cx="603504" cy="603504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871" y="515867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78231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build time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caching, Docker layer cache, multi-stage build, artifact reuse (build 1 lần promote nhiều env).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275320" y="1783080"/>
            <a:ext cx="3337560" cy="4206240"/>
          </a:xfrm>
          <a:prstGeom prst="roundRect">
            <a:avLst>
              <a:gd name="adj" fmla="val 2740"/>
            </a:avLst>
          </a:prstGeom>
          <a:solidFill>
            <a:srgbClr val="0B3D5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45820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9F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KỲ VỌNG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75320" y="25146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 → &lt;10</a:t>
            </a:r>
            <a:endParaRPr lang="en-US" sz="4000" dirty="0"/>
          </a:p>
        </p:txBody>
      </p:sp>
      <p:sp>
        <p:nvSpPr>
          <p:cNvPr id="22" name="Text 17"/>
          <p:cNvSpPr/>
          <p:nvPr/>
        </p:nvSpPr>
        <p:spPr>
          <a:xfrm>
            <a:off x="8275320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phút / build (mục tiêu)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641080" y="3840480"/>
            <a:ext cx="2606040" cy="0"/>
          </a:xfrm>
          <a:prstGeom prst="line">
            <a:avLst/>
          </a:prstGeom>
          <a:noFill/>
          <a:ln w="12700">
            <a:solidFill>
              <a:srgbClr val="24506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0" y="4069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stages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reuse</a:t>
            </a:r>
            <a:endParaRPr lang="en-US" sz="1350" dirty="0"/>
          </a:p>
          <a:p>
            <a:pPr marL="342900" indent="-342900">
              <a:buSzPct val="100000"/>
              <a:buChar char="✓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promote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4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4 · MONITORING &amp;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 sát pipeline và báo cáo leadership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7F9"/>
          </a:solidFill>
          <a:ln w="12700">
            <a:solidFill>
              <a:srgbClr val="CBD5D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93392"/>
            <a:ext cx="566928" cy="56692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49" y="214079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011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Alerting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scrape app / Jenkins / K8s pods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dashboard: </a:t>
            </a:r>
            <a:r>
              <a:rPr lang="vi-VN" sz="1400" b="1" dirty="0"/>
              <a:t>traffic</a:t>
            </a:r>
            <a:r>
              <a:rPr lang="vi-VN" sz="1400" dirty="0"/>
              <a:t> (lượng request), </a:t>
            </a:r>
            <a:r>
              <a:rPr lang="vi-VN" sz="1400" b="1" dirty="0"/>
              <a:t>error</a:t>
            </a:r>
            <a:r>
              <a:rPr lang="vi-VN" sz="1400" dirty="0"/>
              <a:t> (tỷ lệ lỗi), </a:t>
            </a:r>
            <a:r>
              <a:rPr lang="vi-VN" sz="1400" b="1" dirty="0"/>
              <a:t>latency</a:t>
            </a:r>
            <a:r>
              <a:rPr lang="vi-VN" sz="1400" dirty="0"/>
              <a:t> (độ trễ), </a:t>
            </a:r>
            <a:r>
              <a:rPr lang="vi-VN" sz="1400" b="1" dirty="0"/>
              <a:t>saturation</a:t>
            </a:r>
            <a:r>
              <a:rPr lang="vi-VN" sz="1400" dirty="0"/>
              <a:t> (mức bão hòa tài nguyên)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Alert: build/deploy fail, AppDown, </a:t>
            </a:r>
            <a:r>
              <a:rPr lang="en-US" sz="1400" dirty="0" err="1"/>
              <a:t>HighErrorRate</a:t>
            </a: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…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 → Slack / Teams / PagerDuty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BD5D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2066544"/>
            <a:ext cx="658368" cy="65836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704" y="2237720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38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 </a:t>
            </a:r>
            <a:r>
              <a:rPr lang="en-US" sz="1700" b="1" dirty="0">
                <a:solidFill>
                  <a:srgbClr val="D94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315200" y="23957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deploy thành công / tuần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63640" y="3218688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BD5D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10528" y="3547872"/>
            <a:ext cx="658368" cy="65836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704" y="3719048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0" y="34198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 </a:t>
            </a:r>
            <a:r>
              <a:rPr lang="en-US" sz="1700" b="1" dirty="0">
                <a:solidFill>
                  <a:srgbClr val="D94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7315200" y="38770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build pass — độ ổn định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4700016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D94F2B"/>
          </a:solidFill>
          <a:ln w="12700">
            <a:solidFill>
              <a:srgbClr val="D94F2B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0528" y="5029200"/>
            <a:ext cx="658368" cy="65836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704" y="5200376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9011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  </a:t>
            </a:r>
            <a:r>
              <a:rPr lang="en-US" sz="1700" b="1" dirty="0">
                <a:solidFill>
                  <a:srgbClr val="FD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to recovery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315200" y="53583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D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gian phục hồi sau sự cố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389120"/>
            <a:ext cx="3108960" cy="310896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914400"/>
            <a:ext cx="2560320" cy="2560320"/>
          </a:xfrm>
          <a:prstGeom prst="ellipse">
            <a:avLst/>
          </a:prstGeom>
          <a:solidFill>
            <a:srgbClr val="D94F2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392236" y="1315354"/>
            <a:ext cx="1133324" cy="1133324"/>
          </a:xfrm>
          <a:prstGeom prst="ellipse">
            <a:avLst/>
          </a:prstGeom>
          <a:solidFill>
            <a:srgbClr val="D94F2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THANKS FOR LISTENING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714</Words>
  <Application>Microsoft Macintosh PowerPoint</Application>
  <PresentationFormat>Widescreen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Chuan hoa Jenkins CI/CD Platform</dc:title>
  <dc:subject>PptxGenJS Presentation</dc:subject>
  <dc:creator>DevOps Candidate</dc:creator>
  <cp:lastModifiedBy>Xan</cp:lastModifiedBy>
  <cp:revision>2</cp:revision>
  <dcterms:created xsi:type="dcterms:W3CDTF">2026-07-04T12:41:00Z</dcterms:created>
  <dcterms:modified xsi:type="dcterms:W3CDTF">2026-07-04T14:15:44Z</dcterms:modified>
</cp:coreProperties>
</file>